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b0024b4ca64297" /><Relationship Type="http://schemas.openxmlformats.org/officeDocument/2006/relationships/extended-properties" Target="/docProps/app.xml" Id="Ra62dc304144e4924" /><Relationship Type="http://schemas.openxmlformats.org/officeDocument/2006/relationships/officeDocument" Target="/ppt/presentation.xml" Id="Rd0b68069529743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ae7dd1be344951"/>
  </p:sldMasterIdLst>
  <p:notesMasterIdLst>
    <p:notesMasterId xmlns:r="http://schemas.openxmlformats.org/officeDocument/2006/relationships" r:id="R1a29d2140e9c44fa"/>
  </p:notesMasterIdLst>
  <p:sldIdLst>
    <p:sldId xmlns:r="http://schemas.openxmlformats.org/officeDocument/2006/relationships" id="256" r:id="Re17a3657968c4967"/>
    <p:sldId xmlns:r="http://schemas.openxmlformats.org/officeDocument/2006/relationships" id="257" r:id="Rfc78d76fae234ff8"/>
    <p:sldId xmlns:r="http://schemas.openxmlformats.org/officeDocument/2006/relationships" id="258" r:id="Ra9ad7d7fee4b483b"/>
    <p:sldId xmlns:r="http://schemas.openxmlformats.org/officeDocument/2006/relationships" id="259" r:id="R3faa7c3cf0b146f4"/>
    <p:sldId xmlns:r="http://schemas.openxmlformats.org/officeDocument/2006/relationships" id="260" r:id="R6d205b4aab9b407c"/>
    <p:sldId xmlns:r="http://schemas.openxmlformats.org/officeDocument/2006/relationships" id="261" r:id="Rd91610c1790b40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58c2bb4e5f47e3" /><Relationship Type="http://schemas.openxmlformats.org/officeDocument/2006/relationships/slideMaster" Target="/ppt/slideMasters/slideMaster1.xml" Id="Re8ae7dd1be344951" /><Relationship Type="http://schemas.openxmlformats.org/officeDocument/2006/relationships/notesMaster" Target="/ppt/notesMasters/notesMaster1.xml" Id="R1a29d2140e9c44fa" /><Relationship Type="http://schemas.openxmlformats.org/officeDocument/2006/relationships/presProps" Target="/ppt/presProps.xml" Id="R5bd0787a4b404129" /><Relationship Type="http://schemas.openxmlformats.org/officeDocument/2006/relationships/tableStyles" Target="/ppt/tableStyles.xml" Id="R7e540e33860d4d67" /><Relationship Type="http://schemas.openxmlformats.org/officeDocument/2006/relationships/slide" Target="/ppt/slides/slide1.xml" Id="Re17a3657968c4967" /><Relationship Type="http://schemas.openxmlformats.org/officeDocument/2006/relationships/slide" Target="/ppt/slides/slide2.xml" Id="Rfc78d76fae234ff8" /><Relationship Type="http://schemas.openxmlformats.org/officeDocument/2006/relationships/slide" Target="/ppt/slides/slide3.xml" Id="Ra9ad7d7fee4b483b" /><Relationship Type="http://schemas.openxmlformats.org/officeDocument/2006/relationships/slide" Target="/ppt/slides/slide4.xml" Id="R3faa7c3cf0b146f4" /><Relationship Type="http://schemas.openxmlformats.org/officeDocument/2006/relationships/slide" Target="/ppt/slides/slide5.xml" Id="R6d205b4aab9b407c" /><Relationship Type="http://schemas.openxmlformats.org/officeDocument/2006/relationships/slide" Target="/ppt/slides/slide6.xml" Id="Rd91610c1790b40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3641d212e043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fe755e67fe42b1" /><Relationship Type="http://schemas.openxmlformats.org/officeDocument/2006/relationships/notesMaster" Target="/ppt/notesMasters/notesMaster1.xml" Id="R341fa27030734b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858e5478ae4941" /><Relationship Type="http://schemas.openxmlformats.org/officeDocument/2006/relationships/notesMaster" Target="/ppt/notesMasters/notesMaster1.xml" Id="R6faccd48502b4e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28a43a91d54692" /><Relationship Type="http://schemas.openxmlformats.org/officeDocument/2006/relationships/notesMaster" Target="/ppt/notesMasters/notesMaster1.xml" Id="R10720a2f55c24b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06c222777145dd" /><Relationship Type="http://schemas.openxmlformats.org/officeDocument/2006/relationships/notesMaster" Target="/ppt/notesMasters/notesMaster1.xml" Id="R18a2ed4ac3c048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8f41dac0c1406e" /><Relationship Type="http://schemas.openxmlformats.org/officeDocument/2006/relationships/notesMaster" Target="/ppt/notesMasters/notesMaster1.xml" Id="R183f7a85b9bf46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d6b826649c4aef" /><Relationship Type="http://schemas.openxmlformats.org/officeDocument/2006/relationships/notesMaster" Target="/ppt/notesMasters/notesMaster1.xml" Id="Rc9fd7560e01245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기능 출처: 프로젝트 README.md 및 현재 공개 화면의 GA4 보고서·매체 데이터 통합 기능. 외부 홍보 사이트 smartdash.kr의 문구나 실적 수치를 사용하지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기능 범위 출처: README.md의 매체 RAW 업로드, 표준 스키마 취합, 미리보기와 PPT·엑셀 다운로드 흐름.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기능 출처: README.md 및 src/config/analysisConfig.js. Google Analytics OAuth scope는 analytics.readonly이며, 보고서는 선택 항목에 따라 구성됨.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파일 형식과 표준 필드 출처: docs/03_매체_데이터_취합_정의서.md, src/config/mediaConfig.js, src/services/media/normalizer.js.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통합 방식 출처: 최근 변경된 src/services/integration/integrator.js 및 src/services/integration/ga4Traffic.js. GA4 캠페인 차원은 조회하지 않고 source/date 기준으로 분류·집계하며, 캠페인별 GA4 매칭은 지원하지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산출물 및 연동 조건 출처: README.md, src/services/integration/integratedPpt.js, src/services/media/excelExporter.js, docs/03_매체_데이터_취합_정의서.md. Google OAuth scope 및 설정은 README.md Google Cloud 설정 절 참고.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4d5c66cf049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b96f72c4e94e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f74dfc912b4e7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2f8c59c07143e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02e251612b4b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6c3da663a34c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8DFE8C-E6AF-4D0B-9A2B-97A36F936C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D8A133B-B741-493B-AC92-423838FF0B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B02252F-00DA-4680-AE0A-4C63405FA1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E42EDE-AD1A-40C9-A410-2A21EE6F0B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4497075-F542-4C74-A920-4F2C798419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F54DBE-0735-4DF4-BC57-7A39F15CB4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B91A8A-BC13-4E9B-9D8F-ADC1836DC5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54DD6D1-464E-4FC6-AEF7-E06E19AA5C9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57A470-518B-4928-AB60-B0DE29CA9B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C3BCBD-FF6C-487D-8D58-5D94991AF5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201c4eefac440b" /><Relationship Type="http://schemas.openxmlformats.org/officeDocument/2006/relationships/slideLayout" Target="/ppt/slideLayouts/slideLayout1.xml" Id="R2073ecd0aa344172" /><Relationship Type="http://schemas.openxmlformats.org/officeDocument/2006/relationships/slideLayout" Target="/ppt/slideLayouts/slideLayout2.xml" Id="R965432a6bc844ac1" /><Relationship Type="http://schemas.openxmlformats.org/officeDocument/2006/relationships/slideLayout" Target="/ppt/slideLayouts/slideLayout3.xml" Id="Ra113ad28ca644641" /><Relationship Type="http://schemas.openxmlformats.org/officeDocument/2006/relationships/slideLayout" Target="/ppt/slideLayouts/slideLayout4.xml" Id="Rf262c0df3dc94482" /><Relationship Type="http://schemas.openxmlformats.org/officeDocument/2006/relationships/slideLayout" Target="/ppt/slideLayouts/slideLayout5.xml" Id="Rcec2f67b2b8a4a3f" /><Relationship Type="http://schemas.openxmlformats.org/officeDocument/2006/relationships/slideLayout" Target="/ppt/slideLayouts/slideLayout6.xml" Id="Rf4ef8638f6df44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73ecd0aa344172"/>
    <p:sldLayoutId xmlns:r="http://schemas.openxmlformats.org/officeDocument/2006/relationships" id="2147483650" r:id="R965432a6bc844ac1"/>
    <p:sldLayoutId xmlns:r="http://schemas.openxmlformats.org/officeDocument/2006/relationships" id="2147483651" r:id="Ra113ad28ca644641"/>
    <p:sldLayoutId xmlns:r="http://schemas.openxmlformats.org/officeDocument/2006/relationships" id="2147483652" r:id="Rf262c0df3dc94482"/>
    <p:sldLayoutId xmlns:r="http://schemas.openxmlformats.org/officeDocument/2006/relationships" id="2147483653" r:id="Rcec2f67b2b8a4a3f"/>
    <p:sldLayoutId xmlns:r="http://schemas.openxmlformats.org/officeDocument/2006/relationships" id="2147483654" r:id="Rf4ef8638f6df44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4ecbbf23e34e2b" /><Relationship Type="http://schemas.openxmlformats.org/officeDocument/2006/relationships/notesSlide" Target="/ppt/notesSlides/notesSlide1.xml" Id="Ra0ec26d0872d4a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4f7dd89ca14e8e" /><Relationship Type="http://schemas.openxmlformats.org/officeDocument/2006/relationships/notesSlide" Target="/ppt/notesSlides/notesSlide2.xml" Id="Rc4a87978a63345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34783f99f64a0b" /><Relationship Type="http://schemas.openxmlformats.org/officeDocument/2006/relationships/notesSlide" Target="/ppt/notesSlides/notesSlide3.xml" Id="R58580fddf7ce4a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93fd4cbb034220" /><Relationship Type="http://schemas.openxmlformats.org/officeDocument/2006/relationships/notesSlide" Target="/ppt/notesSlides/notesSlide4.xml" Id="Reb182aa27db24d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4f655d0a854ad0" /><Relationship Type="http://schemas.openxmlformats.org/officeDocument/2006/relationships/notesSlide" Target="/ppt/notesSlides/notesSlide5.xml" Id="R34a3207186f04f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b29a42e7c04a07" /><Relationship Type="http://schemas.openxmlformats.org/officeDocument/2006/relationships/notesSlide" Target="/ppt/notesSlides/notesSlide6.xml" Id="Rf5930b92efef47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B2010-5704-458C-AAF8-E7BAE1E0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858A8B"/>
                </a:solidFill>
                <a:latin typeface="Noto Sans KR"/>
                <a:ea typeface="Noto Sans KR"/>
                <a:cs typeface="Noto Sans KR"/>
              </a:rPr>
              <a:t>REPORTFLOW   /   PRODUCT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9E13B-42D0-4D4E-999C-59890EF0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CE55C35-A9D9-4A45-BAD8-F3B81DA5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66800"/>
            <a:ext cx="8858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495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마케팅 리포트,</a:t>
            </a:r>
          </a:p>
          <a:p xmlns:a="http://schemas.openxmlformats.org/drawingml/2006/main">
            <a:pPr algn="l">
              <a:defRPr sz="495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한 번의 흐름으로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E8DC372-8BA9-4918-86C7-EF0F2206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86100"/>
            <a:ext cx="647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GA4 분석부터 매체 데이터 통합,</a:t>
            </a:r>
          </a:p>
          <a:p xmlns:a="http://schemas.openxmlformats.org/drawingml/2006/main">
            <a:pPr algn="l">
              <a:defRPr sz="21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PPT·엑셀 산출까지.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0672B-A836-4057-8C0A-421CEC0F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A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998C1-847F-41AA-9C91-656C1B68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GA4 보고서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1FDCC-1B68-422D-972E-40028021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7054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매체 RAW 표준화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BA786-A4B2-4029-9E76-BC575E39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054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매체별 통합 지표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4F987-991D-497F-8570-6B918C89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705475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rPr>
              <a:t>REPORTFLOW  ·  2026</a:t>
            </a:r>
          </a:p>
        </p:txBody>
      </p:sp>
    </p:spTree>
    <p:extLst>
      <p:ext uri="{BB962C8B-B14F-4D97-AF65-F5344CB8AC3E}">
        <p14:creationId xmlns:p14="http://schemas.microsoft.com/office/powerpoint/2010/main" val="11721914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2-eyebrow">
            <a:extLst xmlns:a="http://schemas.openxmlformats.org/drawingml/2006/main">
              <a:ext uri="{FF2B5EF4-FFF2-40B4-BE49-F238E27FC236}">
                <a16:creationId xmlns:a16="http://schemas.microsoft.com/office/drawing/2014/main" id="{0B96D2E4-5E01-41F7-833C-9D8FFB02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858A8B"/>
                </a:solidFill>
                <a:latin typeface="Noto Sans KR"/>
                <a:ea typeface="Noto Sans KR"/>
                <a:cs typeface="Noto Sans KR"/>
              </a:rPr>
              <a:t>02   /   THE WORK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37F6A4D2-8C50-4F5C-B2FB-30D06951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리포트 준비에는 반복 작업이 많습니다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03156-2942-4F1B-8349-BA3E4698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매체마다 다른 원본 파일을 모으고, 열과 기간을 맞춘 뒤, 같은 지표를 다시 보고서로 옮깁니다.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D14E1-BA1D-4906-86A6-BE8FAA4E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E43D31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6FFEA-DE9C-41E1-AD79-F816BACE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320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A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D59B7-F9D2-481F-A628-FFB54800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각기 다른 파일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5CF2C-138D-43EA-BB51-A49C91AC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CSV와 엑셀 파일마다</a:t>
            </a:r>
          </a:p>
          <a:p xmlns:a="http://schemas.openxmlformats.org/drawingml/2006/main">
            <a:pPr algn="l">
              <a:def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헤더와 형식이 다릅니다.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49382-702C-433F-ACC0-D7F2DDD4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908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E43D31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CF682B-2C5E-4280-BDB3-9C394946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81325"/>
            <a:ext cx="320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A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528BA-6E98-4CEB-A9E2-F96FAFE1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90875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다시 맞추는 기준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4C838-8B48-4DE3-ACA1-5532BA63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날짜, 매체, 열 이름과</a:t>
            </a:r>
          </a:p>
          <a:p xmlns:a="http://schemas.openxmlformats.org/drawingml/2006/main">
            <a:pPr algn="l">
              <a:def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광고비 기준을 확인합니다.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E9DD1-3329-4EA1-8D56-2BA9017F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908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E43D31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359519-E443-4505-97F5-EAF3B276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81325"/>
            <a:ext cx="320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A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697D7-A8E2-44BD-87D0-1A397938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90875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반복되는 보고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9912CB-24AE-4DF6-9E2F-DC536367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정리한 숫자를 표와</a:t>
            </a:r>
          </a:p>
          <a:p xmlns:a="http://schemas.openxmlformats.org/drawingml/2006/main">
            <a:pPr algn="l">
              <a:def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슬라이드에 다시 옮깁니다.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DAA44C-593C-471B-84B5-443243EE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7A0EDA-CF48-4492-9889-7AC3A9EC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F263F-9F64-46CF-AEF9-89770359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0673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데이터 수집과 정리는 한 흐름으로.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FDEE4-A992-4EEF-B052-EC0D8E9A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673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미리보기에서 기준을 확인하고, 결과는 필요한 보고서 형식으로 내보냅니다.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E3D9A3-5959-4B8C-8A93-4AD7CDAD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1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E3CE0D-4670-4F6E-BE98-EDB3C895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92979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92979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929797"/>
                </a:solidFill>
                <a:latin typeface="Noto Sans KR"/>
                <a:ea typeface="Noto Sans KR"/>
                <a:cs typeface="Noto Sans KR"/>
              </a:rPr>
              <a:t>REPORTFLOW   /   마케팅 리포트 자동화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7F9B25-C91A-4A26-A415-C347C2F2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2979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92979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92979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758418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lide-3-eyebrow">
            <a:extLst xmlns:a="http://schemas.openxmlformats.org/drawingml/2006/main">
              <a:ext uri="{FF2B5EF4-FFF2-40B4-BE49-F238E27FC236}">
                <a16:creationId xmlns:a16="http://schemas.microsoft.com/office/drawing/2014/main" id="{4F6CF503-5102-4B92-8729-5AB4CF83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858A8B"/>
                </a:solidFill>
                <a:latin typeface="Noto Sans KR"/>
                <a:ea typeface="Noto Sans KR"/>
                <a:cs typeface="Noto Sans KR"/>
              </a:rPr>
              <a:t>03   /   GA4 REPORT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715D39FE-7DD4-46FF-B669-82A1660A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GA4 데이터를 분석 보고서로 정리합니다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AE783-1A6C-43CC-ADD1-8A7A7C95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속성과 기간을 선택하면 필요한 데이터를 조회하고, 표와 분석 문구를 화면에서 먼저 확인할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A1E3A-063C-47EA-8F6A-0FD596DB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43D31"/>
                </a:solidFill>
                <a:latin typeface="Noto Sans KR"/>
                <a:ea typeface="Noto Sans KR"/>
                <a:cs typeface="Noto Sans KR"/>
              </a:rPr>
              <a:t>설정부터 다운로드까지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B1B24-F4F3-4F70-8C51-9D5A6AE1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E3BF7-010D-462A-B850-50E8125C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71775"/>
            <a:ext cx="2457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Google 로그인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8E70E-2361-4CBB-982C-F971CCFC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2905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rPr>
              <a:t>Analytics 읽기 권한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599F1-B9A5-4422-AB70-E96CDADE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528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A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3471A-CC37-4D6E-87DA-1DB359C7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13276-A05C-41A6-9FE1-22FC0EF6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57575"/>
            <a:ext cx="2457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속성 · 기간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D6B10-B57A-4BEB-95A3-43151932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52850"/>
            <a:ext cx="2905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rPr>
              <a:t>비교 기준 설정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A318C-C327-4992-BD6F-AF78B159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386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A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2C611-03F0-437E-9A6D-FD1B601E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6EE0D-5805-4233-A49A-1EF6EA67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43375"/>
            <a:ext cx="2457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분석 항목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0F55AD-1BC5-4A17-997A-769F4BC6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38650"/>
            <a:ext cx="2905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rPr>
              <a:t>미리보기에서 결과 검토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72863C-8516-421E-B322-02F8BB43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244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A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C6EBBC-2D92-429B-AE26-43FBD72F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57D52F-984E-4A7B-B631-ABD7BE2A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29175"/>
            <a:ext cx="2457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PPT 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351C64-4988-48C3-A5EE-FAED1F54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2905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rPr>
              <a:t>16:9 보고서 다운로드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6C4305-F87B-4292-8BBF-8678D1F4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38375"/>
            <a:ext cx="6410325" cy="3457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B4F2BD-F471-496D-BA52-550D7B4E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50507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rPr>
              <a:t>ANALYSIS AREAS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EC1B18-925C-41DC-A1B5-5B6541E9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003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기본 분석 7개 영역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D3F78C-8602-45AC-9D95-52C410FA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290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514C27-3380-43B3-921B-67A50F7B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099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페이지 경로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EB385A-46E5-4E0F-927A-E39DB1FC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3380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E23134-BED7-4C0B-9748-4D126E03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243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1745BD-A5E6-4583-BFFC-926178DF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9052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자연 유입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9502C7-F301-46D8-B4FF-3DE71662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2910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8088DD-8DB3-437C-B88B-8E3938FF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419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AED9AB-AEAB-4F64-9DCB-F276573C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005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캠페인 유입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419CB5-8C03-4DBE-9DF7-D24A7EC2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72440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CCEB99-55C4-43EF-863A-B4337511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14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7F8C00-90E3-4944-9347-C96EEA13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958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맞춤 이벤트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CA7E9A-F434-45B1-96B0-F5256EBD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21970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53340C-080D-49E8-A297-19BA1BEA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290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8B4CDA-260B-4BFA-B36C-3F591FE1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099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성연령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65C9B7-C8D6-48E7-AC24-48A6EF7F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261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245905-16A2-4C58-AD38-5111581E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243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61809C-53A0-4BF2-9C84-FA556124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052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기기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A6740D-B11B-47E5-B0A7-1C3E989C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29100"/>
            <a:ext cx="261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50E90C-C94D-40DB-A4A3-A9AF4EA4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19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44CA34-DCD5-4D24-927F-772C0FCB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005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지역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BB2665-D85A-40BC-92F0-7B077557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24400"/>
            <a:ext cx="261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0D13D7-D8D8-408A-B637-5FA1BAD6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372100"/>
            <a:ext cx="561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기간 프리셋 · 직접 설정 · 전기/전년 비교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DB7E89-2080-448D-B487-33544C0A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1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58C352-5029-4AC5-A524-CCBA71E7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92979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92979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929797"/>
                </a:solidFill>
                <a:latin typeface="Noto Sans KR"/>
                <a:ea typeface="Noto Sans KR"/>
                <a:cs typeface="Noto Sans KR"/>
              </a:rPr>
              <a:t>REPORTFLOW   /   마케팅 리포트 자동화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DA1561-FCD8-49A0-A9B1-3F16D5AF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2979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92979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92979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713704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4-eyebrow">
            <a:extLst xmlns:a="http://schemas.openxmlformats.org/drawingml/2006/main">
              <a:ext uri="{FF2B5EF4-FFF2-40B4-BE49-F238E27FC236}">
                <a16:creationId xmlns:a16="http://schemas.microsoft.com/office/drawing/2014/main" id="{AC03C92D-FD14-4BDE-ADBB-8CAABD00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858A8B"/>
                </a:solidFill>
                <a:latin typeface="Noto Sans KR"/>
                <a:ea typeface="Noto Sans KR"/>
                <a:cs typeface="Noto Sans KR"/>
              </a:rPr>
              <a:t>04   /   MEDIA DATA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CDDBD4F9-7ADF-4679-B6A6-91F88D7E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매체마다 다른 원본을 공통 기준으로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CB393-C2CC-4A55-B265-A422F6F0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CSV·TSV·엑셀 원본을 업로드하고 자동 인식 결과를 확인해 표준 데이터로 취합합니다.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ECBBC-86CC-47B6-A85D-257BB474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E43D31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86E3B-50FD-40BD-8DB9-8C148CEF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17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A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E0CB2-21B2-4841-94BC-1B075CA6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19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원본 업로드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F2294-AFB2-4A83-96A9-EC13F58D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2190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CSV · TSV</a:t>
            </a:r>
          </a:p>
          <a:p xmlns:a="http://schemas.openxmlformats.org/drawingml/2006/main">
            <a:pPr algn="l">
              <a:def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XLSX · XLSM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AFC25-0A9D-4284-BB9C-50894915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955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8BD5D-BC0F-4CAA-A18F-A18E4FBD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574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E43D31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A6878-00F8-4DC5-B3A3-58DD3A87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81300"/>
            <a:ext cx="217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A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3E3A9-B9BE-4969-BFC5-42526B98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00375"/>
            <a:ext cx="219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자동 인식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BABF6-94A8-45F0-AEF0-D50CEEAC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67100"/>
            <a:ext cx="2190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파일 · 헤더</a:t>
            </a:r>
          </a:p>
          <a:p xmlns:a="http://schemas.openxmlformats.org/drawingml/2006/main">
            <a:pPr algn="l">
              <a:def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날짜 · 지표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25AC04-2643-4C7B-9F28-02CA25BF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955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3B1111-FEE3-42CC-89AE-75B59B96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E43D31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86976-3945-4D51-9A84-264BFAA1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17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A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4BBED-F7AB-442A-BF6A-F277CD82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0375"/>
            <a:ext cx="219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확인 · 보정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E79E3-B7D9-4068-80C7-4EA5E505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7100"/>
            <a:ext cx="2190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매체 · 열 매핑</a:t>
            </a:r>
          </a:p>
          <a:p xmlns:a="http://schemas.openxmlformats.org/drawingml/2006/main">
            <a:pPr algn="l">
              <a:def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VAT 기준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7FF3C-38F7-441C-882B-319AF2BB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955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858A8B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2A15C7-4262-42C6-938E-B12E7B34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574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E43D31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2FA8E1-5A85-447D-9D1D-8C74D7EE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81300"/>
            <a:ext cx="217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0EE228-BEE6-4F88-BF4A-A72218E2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0375"/>
            <a:ext cx="219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표준 데이터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842644-637C-4A57-89F3-7AAEEABD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67100"/>
            <a:ext cx="2190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매체별 요약</a:t>
            </a:r>
          </a:p>
          <a:p xmlns:a="http://schemas.openxmlformats.org/drawingml/2006/main">
            <a:pPr algn="l">
              <a:def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일별 · 캠페인별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5C0E87-1B2B-40B4-90FE-3E3D9F7C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A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446850-AAB3-46CB-9C64-E5E4F66C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E43D31"/>
                </a:solidFill>
                <a:latin typeface="Noto Sans KR"/>
                <a:ea typeface="Noto Sans KR"/>
                <a:cs typeface="Noto Sans KR"/>
              </a:rPr>
              <a:t>정리되는 공통 항목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F47F3B-376D-4587-87C5-0D2233F6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971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일자   ·   매체   ·   캠페인   ·   광고그룹   ·   소재/키워드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02CF1F-68A7-4E5F-9673-42D59B29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40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노출   ·   클릭   ·   광고비   ·   전환   ·   전환매출   ·   도달   ·   동영상 조회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4295CD-D6D2-47BB-94A2-8B06B140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1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05151D-C936-4160-9D60-76017546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92979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92979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929797"/>
                </a:solidFill>
                <a:latin typeface="Noto Sans KR"/>
                <a:ea typeface="Noto Sans KR"/>
                <a:cs typeface="Noto Sans KR"/>
              </a:rPr>
              <a:t>REPORTFLOW   /   마케팅 리포트 자동화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6FA6BE-029D-4B74-9960-531F22A0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2979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92979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92979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417772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023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slide-5-eyebrow">
            <a:extLst xmlns:a="http://schemas.openxmlformats.org/drawingml/2006/main">
              <a:ext uri="{FF2B5EF4-FFF2-40B4-BE49-F238E27FC236}">
                <a16:creationId xmlns:a16="http://schemas.microsoft.com/office/drawing/2014/main" id="{F7E8A9CF-3BB9-44E0-95BA-A12E5D44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A8ADA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A8ADAD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A8ADAD"/>
                </a:solidFill>
                <a:latin typeface="Noto Sans KR"/>
                <a:ea typeface="Noto Sans KR"/>
                <a:cs typeface="Noto Sans KR"/>
              </a:rPr>
              <a:t>05   /   MEDIA × GA4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34990D71-35AF-42A9-AA97-0D5ED2C7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GA4 통합 지표는 매체 단위로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04837-942A-4F62-B8F7-A1112523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ADA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8ADA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A8ADAD"/>
                </a:solidFill>
                <a:latin typeface="Noto Sans KR"/>
                <a:ea typeface="Noto Sans KR"/>
                <a:cs typeface="Noto Sans KR"/>
              </a:rPr>
              <a:t>광고 원본은 매체별로 합산하고, GA4 유료 유입은 소스 기준으로 매체에 분류합니다.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88429-F317-463A-A61C-303B5210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619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광고 매체 원본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B35AA-CDF0-4E6F-B0CA-3DB602B9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8ADA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A8ADAD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A8ADAD"/>
                </a:solidFill>
                <a:latin typeface="Noto Sans KR"/>
                <a:ea typeface="Noto Sans KR"/>
                <a:cs typeface="Noto Sans KR"/>
              </a:rPr>
              <a:t>광고비 · 노출 · 클릭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EB667-3A78-4523-9EDA-B2656E16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D9DAD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D9DAD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D9DADA"/>
                </a:solidFill>
                <a:latin typeface="Noto Sans KR"/>
                <a:ea typeface="Noto Sans KR"/>
                <a:cs typeface="Noto Sans KR"/>
              </a:rPr>
              <a:t>캠페인별 원본 지표 → 매체 합계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0CDB4-B3B1-4C66-8EB1-A733C5E9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743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210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E43D31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A8627-189A-450A-839A-3973F9BE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619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GA4 유료 유입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151D5-6130-415E-BD7A-6CAB9538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8ADA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A8ADAD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A8ADAD"/>
                </a:solidFill>
                <a:latin typeface="Noto Sans KR"/>
                <a:ea typeface="Noto Sans KR"/>
                <a:cs typeface="Noto Sans KR"/>
              </a:rPr>
              <a:t>세션 · 참여 · 주요 이벤트 · 매출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7F358-1398-4BBB-A696-D69FEA6D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D9DAD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D9DAD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D9DADA"/>
                </a:solidFill>
                <a:latin typeface="Noto Sans KR"/>
                <a:ea typeface="Noto Sans KR"/>
                <a:cs typeface="Noto Sans KR"/>
              </a:rPr>
              <a:t>sessionSource + 날짜 → 매체 합계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7EB30-BB25-42B7-9064-A8EBD25A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40042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2100" b="0">
                <a:solidFill>
                  <a:srgbClr val="E4C5A0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E4C5A0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E4C5A0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A4E5D-12E9-42E6-8577-48DA95AA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19325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8E3F8-8619-47E2-B68B-4928ABEC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955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매체별 통합 지표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03012-94C1-4DF9-9978-CE0C733A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67000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A8ADA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A8ADAD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A8ADAD"/>
                </a:solidFill>
                <a:latin typeface="Noto Sans KR"/>
                <a:ea typeface="Noto Sans KR"/>
                <a:cs typeface="Noto Sans KR"/>
              </a:rPr>
              <a:t>화면·PPT·엑셀에 같은 분석 단위를 적용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35A7CC-D37C-4CEF-B1C5-A07B1C4E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43250"/>
            <a:ext cx="623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05C42-B73D-48E6-92A3-C1C7BDBE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7660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A8ADA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8ADA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A8ADAD"/>
                </a:solidFill>
                <a:latin typeface="Noto Sans KR"/>
                <a:ea typeface="Noto Sans KR"/>
                <a:cs typeface="Noto Sans KR"/>
              </a:rPr>
              <a:t>매체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26AD08-C44E-4CC6-BCF9-95786C90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7660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A8ADA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8ADA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A8ADAD"/>
                </a:solidFill>
                <a:latin typeface="Noto Sans KR"/>
                <a:ea typeface="Noto Sans KR"/>
                <a:cs typeface="Noto Sans KR"/>
              </a:rPr>
              <a:t>광고비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51D950-BD21-40AE-9AE0-8400FB99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27660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A8ADA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8ADA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A8ADAD"/>
                </a:solidFill>
                <a:latin typeface="Noto Sans KR"/>
                <a:ea typeface="Noto Sans KR"/>
                <a:cs typeface="Noto Sans KR"/>
              </a:rPr>
              <a:t>클릭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E205E9-D586-4721-A6F7-71E992E4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7660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A8ADA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8ADA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A8ADAD"/>
                </a:solidFill>
                <a:latin typeface="Noto Sans KR"/>
                <a:ea typeface="Noto Sans KR"/>
                <a:cs typeface="Noto Sans KR"/>
              </a:rPr>
              <a:t>GA4 세션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68C0F1-2D1C-4FCC-B099-186EDEE4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7660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A8ADA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8ADA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A8ADAD"/>
                </a:solidFill>
                <a:latin typeface="Noto Sans KR"/>
                <a:ea typeface="Noto Sans KR"/>
                <a:cs typeface="Noto Sans KR"/>
              </a:rPr>
              <a:t>도달률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16239-2FC8-4D47-B72F-624BC60C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7660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A8ADA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8ADA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A8ADAD"/>
                </a:solidFill>
                <a:latin typeface="Noto Sans KR"/>
                <a:ea typeface="Noto Sans KR"/>
                <a:cs typeface="Noto Sans KR"/>
              </a:rPr>
              <a:t>GA4 CPA / ROAS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5CC8EB-7CA9-4394-96EB-6C298CFE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86175"/>
            <a:ext cx="885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C6CC47-FD14-4ED8-BE59-B6589D92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052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675" b="0">
                <a:solidFill>
                  <a:srgbClr val="828989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828989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828989"/>
                </a:solidFill>
                <a:latin typeface="Noto Sans KR"/>
                <a:ea typeface="Noto Sans KR"/>
                <a:cs typeface="Noto Sans KR"/>
              </a:rPr>
              <a:t>검색 · 디스플레이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056F58-E011-4A67-9448-C15F038B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95700"/>
            <a:ext cx="838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F50D19-CDA2-4AB5-A667-BBBD613F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695700"/>
            <a:ext cx="838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13800F-987C-4A26-B6AF-753C1841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95700"/>
            <a:ext cx="838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844BF6-6D5D-4DA0-8D22-65439F63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95700"/>
            <a:ext cx="838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20D075-74CD-4E96-8726-3E5D7743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95700"/>
            <a:ext cx="838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60B9E9-1149-43EE-8652-64A1F18D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95750"/>
            <a:ext cx="623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02F187-6AB2-4213-9E58-66D2E242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10050"/>
            <a:ext cx="885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메타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2783CA-01B7-4D9D-8A0C-FCB3BBCC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291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675" b="0">
                <a:solidFill>
                  <a:srgbClr val="828989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828989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828989"/>
                </a:solidFill>
                <a:latin typeface="Noto Sans KR"/>
                <a:ea typeface="Noto Sans KR"/>
                <a:cs typeface="Noto Sans KR"/>
              </a:rPr>
              <a:t>Facebook · Instagram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AEE4A6-16C6-420B-B62D-2A1CC611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19575"/>
            <a:ext cx="838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CDB1EE-C9DD-4191-83D6-F122047D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219575"/>
            <a:ext cx="838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027A70-D369-4970-8A2A-493BBBDB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838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4C8FE3-0A13-413A-BAFE-4244FDCC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19575"/>
            <a:ext cx="838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DF4E77-E8F9-42B1-B158-2A687AAB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19575"/>
            <a:ext cx="838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3D5B48-7931-443E-B60B-B3409695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19625"/>
            <a:ext cx="623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BDD8E3-2A05-42F5-9D81-37AD6737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33925"/>
            <a:ext cx="885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카카오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DC44E8-AEA5-445C-AACE-7629FE3E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9530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675" b="0">
                <a:solidFill>
                  <a:srgbClr val="828989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828989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828989"/>
                </a:solidFill>
                <a:latin typeface="Noto Sans KR"/>
                <a:ea typeface="Noto Sans KR"/>
                <a:cs typeface="Noto Sans KR"/>
              </a:rPr>
              <a:t>매체 유입 합계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695DDF-EFFB-44ED-AFCB-05923F3B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43450"/>
            <a:ext cx="838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0ABC60-300C-4B8D-85FE-89835625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743450"/>
            <a:ext cx="838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AACD00-A1BE-4061-8FE4-B2C8AF48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43450"/>
            <a:ext cx="838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ABF449-2429-4770-985C-C5BC6C74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43450"/>
            <a:ext cx="838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C47D4F-B656-41EA-94D9-96B8D726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743450"/>
            <a:ext cx="838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D0D3D3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B022A4-D196-4A43-BDBD-C53DC315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143500"/>
            <a:ext cx="623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0AEB96F-ED0E-47A9-AAE0-B648F1DE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29250"/>
            <a:ext cx="623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39999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39999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939999"/>
                </a:solidFill>
                <a:latin typeface="Noto Sans KR"/>
                <a:ea typeface="Noto Sans KR"/>
                <a:cs typeface="Noto Sans KR"/>
              </a:rPr>
              <a:t>성과는 업로드 원본과 선택한 GA4 속성·기간의 데이터 범위에 따라 달라집니다.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26019F-0AF2-4FEC-A505-FB86F923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9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B23441-DAA6-40D2-AC9F-80F1EF6D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858B8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858B8B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858B8B"/>
                </a:solidFill>
                <a:latin typeface="Noto Sans KR"/>
                <a:ea typeface="Noto Sans KR"/>
                <a:cs typeface="Noto Sans KR"/>
              </a:rPr>
              <a:t>REPORTFLOW   /   마케팅 리포트 자동화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EEA6C6-ED66-4EBD-B4F5-B2DAD593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858B8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858B8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858B8B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986950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6-eyebrow">
            <a:extLst xmlns:a="http://schemas.openxmlformats.org/drawingml/2006/main">
              <a:ext uri="{FF2B5EF4-FFF2-40B4-BE49-F238E27FC236}">
                <a16:creationId xmlns:a16="http://schemas.microsoft.com/office/drawing/2014/main" id="{6F99144E-C8BB-45E1-961E-1F5112E5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858A8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858A8B"/>
                </a:solidFill>
                <a:latin typeface="Noto Sans KR"/>
                <a:ea typeface="Noto Sans KR"/>
                <a:cs typeface="Noto Sans KR"/>
              </a:rPr>
              <a:t>06   /   OUTPUT &amp; ACCESS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BA2BAFC2-D3EE-4382-9ECB-2AFD49C6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검토한 결과를 바로 활용할 수 있게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9E43F-F4CC-49CC-A479-131054FC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화면 미리보기로 확인한 분석 결과를 보고와 후속 작업에 필요한 파일로 내보냅니다.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FC8F1-6398-4014-AACE-C63F40CB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PPT 보고서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83F31-55ED-4B37-A6D8-7339E0D0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GA4 분석 · 매체 통합 결과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5C0DC-AE39-44AF-91CD-CF629B4C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A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52762-5CEE-4D74-A4C2-28C435DB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선택 기간의 분석 결과와 핵심 지표를</a:t>
            </a:r>
          </a:p>
          <a:p xmlns:a="http://schemas.openxmlformats.org/drawingml/2006/main">
            <a:pPr algn="l">
              <a:def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16:9 프레젠테이션으로 생성합니다.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DAA5D-D1DA-4545-AE6A-2E11D804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66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E43D31"/>
                </a:solidFill>
                <a:latin typeface="Noto Sans KR"/>
                <a:ea typeface="Noto Sans KR"/>
                <a:cs typeface="Noto Sans KR"/>
              </a:rPr>
              <a:t>미리보기 후 다운로드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856F3-58CB-4108-8CBF-C02AEC1D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9077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02224"/>
                </a:solidFill>
                <a:latin typeface="Noto Sans KR"/>
                <a:ea typeface="Noto Sans KR"/>
                <a:cs typeface="Noto Sans KR"/>
              </a:rPr>
              <a:t>엑셀 데이터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DE82A-8535-4BFD-A637-4A01AC76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790825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표준 통합 데이터 · 매체별 GA4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2A6A0-24CB-4259-A622-42F93F20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289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A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F1AABB-CAB7-45EB-B86A-D5E98B62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57575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표준 스키마와 기간별 데이터를</a:t>
            </a:r>
          </a:p>
          <a:p xmlns:a="http://schemas.openxmlformats.org/drawingml/2006/main">
            <a:pPr algn="l">
              <a:def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필터·후속 분석에 활용할 수 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9889F-2481-493E-ABB5-CD645254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4386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E43D31"/>
                </a:solidFill>
                <a:latin typeface="Noto Sans KR"/>
                <a:ea typeface="Noto Sans KR"/>
                <a:cs typeface="Noto Sans KR"/>
              </a:rPr>
              <a:t>표준화 데이터 전체 기간 · 통합 지표 선택 기간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25C67F-50E7-402F-88CA-CA68A534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46E2A-4C2C-4FF5-885C-BA1ECEEB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43D31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E43D31"/>
                </a:solidFill>
                <a:latin typeface="Noto Sans KR"/>
                <a:ea typeface="Noto Sans KR"/>
                <a:cs typeface="Noto Sans KR"/>
              </a:rPr>
              <a:t>시작 방법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12E72-74CF-4C47-9480-D1BAA504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387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4595A"/>
                </a:solidFill>
                <a:latin typeface="Noto Sans KR"/>
                <a:ea typeface="Noto Sans KR"/>
                <a:cs typeface="Noto Sans KR"/>
              </a:rPr>
              <a:t>GA4 보고서는 Google Cloud OAuth 설정이 필요합니다. 매체 데이터는 샘플 파일로 먼저 체험할 수 있습니다.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E29613-CE85-4402-A983-B55FC359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1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445735-687F-4C60-9B2D-A82F45AA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92979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92979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929797"/>
                </a:solidFill>
                <a:latin typeface="Noto Sans KR"/>
                <a:ea typeface="Noto Sans KR"/>
                <a:cs typeface="Noto Sans KR"/>
              </a:rPr>
              <a:t>REPORTFLOW   /   마케팅 리포트 자동화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E82C4A-D333-49A2-BFFA-DE3116BD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2979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92979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929797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601744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2026-10-06T05:51:31.9470000Z</dcterms:created>
  <dcterms:modified xsi:type="dcterms:W3CDTF">2026-10-06T05:51:31.9470000Z</dcterms:modified>
</coreProperties>
</file>